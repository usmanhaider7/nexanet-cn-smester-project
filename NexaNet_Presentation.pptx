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36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Project name is Nexa Net. Introduce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goal was to simulate a real-world corporate network where departments are kept separate for security but can communicate through a central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core switch in the middle which connects everything. Access switches on the outside connect actual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/24 subnet gives 254 usable IPs per department, making the network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Router-on-a-stick means we send all 5 VLANs up a single trunk cable to the router, saving hardware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Ping from HR PC to Web Server proved the packet traveled through switches, up to the router, got routed to VLAN 50, and came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by emphasizing this setup mirrors best practices used in real corporate enterprise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floor for questions. Summarize: Nexa Net covers VLANs, DHCP, DNS, Web Server, Inter-VLAN Routing, and WiFi.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NET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 Design with Inter-VLAN Routing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Haider(0074)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Nabeel Ahmad(0071)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977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4114800" cy="1600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Main 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fully functional, scalable enterprise network.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600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Traffic Segmentation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network traffic logically by department using VLANs.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114800" cy="1600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Inter-Department Communication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communication between isolated departments using a router.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4114800" cy="1600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IP Automation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IP address assignment for all end-user devices via DHCP.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Network Topology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868680"/>
            <a:ext cx="1645920" cy="502920"/>
          </a:xfrm>
          <a:prstGeom prst="rect">
            <a:avLst/>
          </a:prstGeom>
          <a:solidFill>
            <a:srgbClr val="102030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944118"/>
            <a:ext cx="16459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0" cy="27432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45920"/>
            <a:ext cx="2103120" cy="502920"/>
          </a:xfrm>
          <a:prstGeom prst="rect">
            <a:avLst/>
          </a:prstGeom>
          <a:solidFill>
            <a:srgbClr val="1B3A5C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21358"/>
            <a:ext cx="2103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2911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423160"/>
            <a:ext cx="2560320" cy="502920"/>
          </a:xfrm>
          <a:prstGeom prst="rect">
            <a:avLst/>
          </a:prstGeom>
          <a:solidFill>
            <a:srgbClr val="1B3A5C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49859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  3560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749808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926080"/>
            <a:ext cx="0" cy="320040"/>
          </a:xfrm>
          <a:prstGeom prst="line">
            <a:avLst/>
          </a:prstGeom>
          <a:noFill/>
          <a:ln w="15240">
            <a:solidFill>
              <a:srgbClr val="00C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46120"/>
            <a:ext cx="1645920" cy="640080"/>
          </a:xfrm>
          <a:prstGeom prst="rect">
            <a:avLst/>
          </a:prstGeom>
          <a:solidFill>
            <a:srgbClr val="1B2E45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4213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016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2926080"/>
            <a:ext cx="0" cy="320040"/>
          </a:xfrm>
          <a:prstGeom prst="line">
            <a:avLst/>
          </a:prstGeom>
          <a:noFill/>
          <a:ln w="15240">
            <a:solidFill>
              <a:srgbClr val="00C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3246120"/>
            <a:ext cx="1645920" cy="640080"/>
          </a:xfrm>
          <a:prstGeom prst="rect">
            <a:avLst/>
          </a:prstGeom>
          <a:solidFill>
            <a:srgbClr val="1B2E45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334213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0" y="2926080"/>
            <a:ext cx="0" cy="320040"/>
          </a:xfrm>
          <a:prstGeom prst="line">
            <a:avLst/>
          </a:prstGeom>
          <a:noFill/>
          <a:ln w="15240">
            <a:solidFill>
              <a:srgbClr val="00C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3246120"/>
            <a:ext cx="1645920" cy="640080"/>
          </a:xfrm>
          <a:prstGeom prst="rect">
            <a:avLst/>
          </a:prstGeom>
          <a:solidFill>
            <a:srgbClr val="1B2E45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34213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5040" y="2926080"/>
            <a:ext cx="0" cy="320040"/>
          </a:xfrm>
          <a:prstGeom prst="line">
            <a:avLst/>
          </a:prstGeom>
          <a:noFill/>
          <a:ln w="15240">
            <a:solidFill>
              <a:srgbClr val="00C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3246120"/>
            <a:ext cx="1645920" cy="640080"/>
          </a:xfrm>
          <a:prstGeom prst="rect">
            <a:avLst/>
          </a:prstGeom>
          <a:solidFill>
            <a:srgbClr val="1B2E45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34213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2926080"/>
            <a:ext cx="0" cy="320040"/>
          </a:xfrm>
          <a:prstGeom prst="line">
            <a:avLst/>
          </a:prstGeom>
          <a:noFill/>
          <a:ln w="15240">
            <a:solidFill>
              <a:srgbClr val="00C2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solidFill>
            <a:srgbClr val="1B2E45"/>
          </a:solidFill>
          <a:ln w="7620">
            <a:solidFill>
              <a:srgbClr val="00C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4213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3" name="Shape 41"/>
          <p:cNvSpPr/>
          <p:nvPr/>
        </p:nvSpPr>
        <p:spPr>
          <a:xfrm>
            <a:off x="758952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4" name="Shape 42"/>
          <p:cNvSpPr/>
          <p:nvPr/>
        </p:nvSpPr>
        <p:spPr>
          <a:xfrm>
            <a:off x="7863840" y="4041648"/>
            <a:ext cx="228600" cy="2286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PCs / Devices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789C005-71DA-D605-1E94-0187924A60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8C1BC-28C9-3248-C238-EF7364A0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5" y="923544"/>
            <a:ext cx="6802323" cy="38241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9DF06030-EA7D-11ED-B166-25C6DDBD2CA6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Diagram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6947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Network Segmentation (VLANs)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097280" cy="502920"/>
          </a:xfrm>
          <a:prstGeom prst="rect">
            <a:avLst/>
          </a:prstGeom>
          <a:solidFill>
            <a:srgbClr val="00A3D9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00200" y="1005840"/>
            <a:ext cx="2377440" cy="502920"/>
          </a:xfrm>
          <a:prstGeom prst="rect">
            <a:avLst/>
          </a:prstGeom>
          <a:solidFill>
            <a:srgbClr val="00A3D9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1005840"/>
            <a:ext cx="2377440" cy="502920"/>
          </a:xfrm>
          <a:prstGeom prst="rect">
            <a:avLst/>
          </a:prstGeom>
          <a:solidFill>
            <a:srgbClr val="00A3D9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/ IP Range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005840"/>
            <a:ext cx="1920240" cy="502920"/>
          </a:xfrm>
          <a:prstGeom prst="rect">
            <a:avLst/>
          </a:prstGeom>
          <a:solidFill>
            <a:srgbClr val="00A3D9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508760"/>
            <a:ext cx="109728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00200" y="150876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(Human Resources)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150876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 /24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1508760"/>
            <a:ext cx="19202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011680"/>
            <a:ext cx="109728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00200" y="2011680"/>
            <a:ext cx="23774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(Information Tech)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2011680"/>
            <a:ext cx="23774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 /24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2011680"/>
            <a:ext cx="19202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514600"/>
            <a:ext cx="109728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600200" y="251460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251460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 /24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2514600"/>
            <a:ext cx="19202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109728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00200" y="3017520"/>
            <a:ext cx="23774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23360" y="3017520"/>
            <a:ext cx="23774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192.168.40.0 /24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3017520"/>
            <a:ext cx="1920240" cy="502920"/>
          </a:xfrm>
          <a:prstGeom prst="rect">
            <a:avLst/>
          </a:prstGeom>
          <a:solidFill>
            <a:srgbClr val="162333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192.168.40.1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520440"/>
            <a:ext cx="109728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600200" y="352044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0020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Servers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023360" y="3520440"/>
            <a:ext cx="23774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192.168.50.0 /24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46520" y="3520440"/>
            <a:ext cx="1920240" cy="502920"/>
          </a:xfrm>
          <a:prstGeom prst="rect">
            <a:avLst/>
          </a:prstGeom>
          <a:solidFill>
            <a:srgbClr val="1B2E45"/>
          </a:solidFill>
          <a:ln w="3810">
            <a:solidFill>
              <a:srgbClr val="2A4A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192.168.50.1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/24 subnet = up to 254 usable IPs per department  |  Highly scalable design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Networking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4114800" cy="1691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 (802.1Q)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virtual sub-interfaces on a single router port to route traffic between all 5 VLANs — no extra hardware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14800" cy="1691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automatically leases IP addresses to PCs based on their assigned VLAN. Zero manual configuration.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691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 Trunking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access switches connected via Trunk links — allows multiple VLANs to travel across a single cable.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114800" cy="1691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PortFast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on PC ports to bypass listening/learning states for immediate connectivity when a device boots.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Network (Simulation)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Packet Tracer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(Ping / Simulation Panel)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548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78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Same-VLAN Communication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within the same VLAN can ping each other successfully.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114800" cy="548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DHCP IP Assignment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correctly assigns IPs to PCs — verified via 'ipconfig' on each PC.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114800" cy="548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Inter-VLAN Routing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from VLAN 10 (HR) to VLAN 50 (Server) passed — packet routed through sub-interfaces.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114800" cy="548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986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DNS Resolution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www.nexanet.com resolved correctly to 192.168.50.20.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4114800" cy="54864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538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 Server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on HR PC accessed 'Welcome to Nexa Net!' page from Web Server.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1F9E57-6BB8-F45B-2CFA-DEC766704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77" y="960120"/>
            <a:ext cx="3236726" cy="20258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5D71D1D-D04E-3003-CD48-8ED7DC6C2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77" y="2945821"/>
            <a:ext cx="3236726" cy="19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Benefits of This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3886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51560"/>
            <a:ext cx="640080" cy="640080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Control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packets (like DHCP requests) are contained within their specific VLAN — preventing network slowdowns across all departments.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651760" cy="3886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051560"/>
            <a:ext cx="640080" cy="6400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Isolation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separating departments, ACLs can later restrict access — e.g., preventing Sales from reaching Finance servers.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51760" cy="3886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051560"/>
            <a:ext cx="640080" cy="64008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Organization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Grouping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be grouped by department regardless of their physical location in the building.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mirrors best practices used in real corporate enterprise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645</Words>
  <Application>Microsoft Office PowerPoint</Application>
  <PresentationFormat>On-screen Show (16:9)</PresentationFormat>
  <Paragraphs>116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usman haider</cp:lastModifiedBy>
  <cp:revision>3</cp:revision>
  <dcterms:created xsi:type="dcterms:W3CDTF">2026-07-09T21:05:53Z</dcterms:created>
  <dcterms:modified xsi:type="dcterms:W3CDTF">2026-07-09T21:38:40Z</dcterms:modified>
</cp:coreProperties>
</file>